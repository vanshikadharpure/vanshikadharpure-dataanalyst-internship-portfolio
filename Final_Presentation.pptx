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Orders by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Education</c:v>
                  </c:pt>
                  <c:pt idx="2">
                    <c:v>Furniture</c:v>
                  </c:pt>
                  <c:pt idx="3">
                    <c:v>Fashion</c:v>
                  </c:pt>
                  <c:pt idx="4">
                    <c:v>Grocery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354</c:v>
                </c:pt>
                <c:pt idx="1">
                  <c:v>178</c:v>
                </c:pt>
                <c:pt idx="2">
                  <c:v>159</c:v>
                </c:pt>
                <c:pt idx="3">
                  <c:v>156</c:v>
                </c:pt>
                <c:pt idx="4">
                  <c:v>153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Average Order Value (₹)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Order Value (₹)</c:v>
                </c:pt>
              </c:strCache>
            </c:strRef>
          </c:tx>
          <c:spPr>
            <a:solidFill>
              <a:srgbClr val="F9A8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A8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678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Electronics</c:v>
                  </c:pt>
                  <c:pt idx="1">
                    <c:v>Other Categories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143442</c:v>
                </c:pt>
                <c:pt idx="1">
                  <c:v>137184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540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27327A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114800"/>
            <a:ext cx="3657600" cy="3657600"/>
          </a:xfrm>
          <a:prstGeom prst="ellipse">
            <a:avLst/>
          </a:prstGeom>
          <a:solidFill>
            <a:srgbClr val="27327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Storytelling &amp;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Validation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look at what's really behind our top-performing segment.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matters to the business.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822960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leads every revenue chart in this dataset.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does it lead because customers spend more per order, or simply because it sells more often?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292608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distinction changes strategy: premium pricing vs. reach and frequency. This deck follows the data from raw rows to a statistically validated answer.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429768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F2F4F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44348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484632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trustworthy, analysis-ready data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556248" y="429768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F2F4FA"/>
          </a:solidFill>
          <a:ln/>
        </p:spPr>
      </p:sp>
      <p:sp>
        <p:nvSpPr>
          <p:cNvPr id="12" name="Text 10"/>
          <p:cNvSpPr/>
          <p:nvPr/>
        </p:nvSpPr>
        <p:spPr>
          <a:xfrm>
            <a:off x="6556248" y="44348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47688" y="484632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early patterns and trends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357616" y="429768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F2F4FA"/>
          </a:solidFill>
          <a:ln/>
        </p:spPr>
      </p:sp>
      <p:sp>
        <p:nvSpPr>
          <p:cNvPr id="15" name="Text 13"/>
          <p:cNvSpPr/>
          <p:nvPr/>
        </p:nvSpPr>
        <p:spPr>
          <a:xfrm>
            <a:off x="8357616" y="44348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49056" y="484632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KPIs and key customer segments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158984" y="429768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F2F4FA"/>
          </a:solidFill>
          <a:ln/>
        </p:spPr>
      </p:sp>
      <p:sp>
        <p:nvSpPr>
          <p:cNvPr id="18" name="Text 16"/>
          <p:cNvSpPr/>
          <p:nvPr/>
        </p:nvSpPr>
        <p:spPr>
          <a:xfrm>
            <a:off x="10158984" y="44348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50424" y="484632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pattern statistically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Foundation: Cleaning &amp; Preparing the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raw sales transactions were profiled, cleaned, and enriched before any analysis began.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2F4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1284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cleaned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21031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2F4FA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21284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28346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Age / City values remaining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2F4FA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21284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12→17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55080" y="28346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after feature engineering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21031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2F4FA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221284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89720" y="28346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fields: Region, Age Group, Order Month/Year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fixed: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38912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Age and City values imputed — zero gaps remain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 standardized to a consistent datetime format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derived from City for location-based analysis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and Order Month/Year engineered for segmentation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75120" y="3977640"/>
            <a:ext cx="493776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4160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457200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in this deck — from top categories to the hypothesis test — depends on this step. Clean, complete data means the statistical conclusions ahead can be trusted.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Patterns: Exploration &amp; SQL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business questions answered in SQL surfaced the first signals worth investigating.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355080" y="237744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is the #1 category by both orders (354) and revenue (₹50.7M)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India leads all regions with ₹52.6M in revenue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splits nearly evenly by gender — 52% Male, 48% Female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category cleared its assigned revenue target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48920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2F4FA"/>
          </a:solidFill>
          <a:ln/>
        </p:spPr>
      </p:sp>
      <p:sp>
        <p:nvSpPr>
          <p:cNvPr id="9" name="Text 6"/>
          <p:cNvSpPr/>
          <p:nvPr/>
        </p:nvSpPr>
        <p:spPr>
          <a:xfrm>
            <a:off x="6446520" y="50109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question this raised: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46520" y="528523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Electronics' lead about higher spend per order — or just higher order volume? That's tested directly next.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Going Deeper: KPIs &amp; Segmentation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KPIs were defined and revenue was broken down across four customer segments.</a:t>
            </a:r>
            <a:endParaRPr lang="en-US" sz="1300" dirty="0"/>
          </a:p>
        </p:txBody>
      </p:sp>
      <p:pic>
        <p:nvPicPr>
          <p:cNvPr id="5" name="Image 0" descr="dashboard_screensh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65960"/>
            <a:ext cx="603504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65960"/>
            <a:ext cx="6035040" cy="3520440"/>
          </a:xfrm>
          <a:prstGeom prst="roundRect">
            <a:avLst/>
          </a:prstGeom>
          <a:ln w="12700">
            <a:solidFill>
              <a:srgbClr val="DADF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550468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 dashboard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Top-performing segments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0" y="2468880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F2F4FA"/>
          </a:solidFill>
          <a:ln/>
        </p:spPr>
      </p:sp>
      <p:sp>
        <p:nvSpPr>
          <p:cNvPr id="10" name="Text 7"/>
          <p:cNvSpPr/>
          <p:nvPr/>
        </p:nvSpPr>
        <p:spPr>
          <a:xfrm>
            <a:off x="6995160" y="246888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595360" y="246888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— ₹50.7M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858000" y="3154680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F2F4FA"/>
          </a:solidFill>
          <a:ln/>
        </p:spPr>
      </p:sp>
      <p:sp>
        <p:nvSpPr>
          <p:cNvPr id="13" name="Text 10"/>
          <p:cNvSpPr/>
          <p:nvPr/>
        </p:nvSpPr>
        <p:spPr>
          <a:xfrm>
            <a:off x="6995160" y="315468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595360" y="315468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India — ₹52.6M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858000" y="3840480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F2F4FA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384048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595360" y="384048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Middle-aged — ₹60.3M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858000" y="4526280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F2F4FA"/>
          </a:solidFill>
          <a:ln/>
        </p:spPr>
      </p:sp>
      <p:sp>
        <p:nvSpPr>
          <p:cNvPr id="19" name="Text 16"/>
          <p:cNvSpPr/>
          <p:nvPr/>
        </p:nvSpPr>
        <p:spPr>
          <a:xfrm>
            <a:off x="6995160" y="452628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595360" y="452628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— ₹72.5M (51.98%)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858000" y="53492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top segment leads on total revenue. The question is whether they also lead on spend-per-order — tested next.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 the Test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test to check whether Electronics truly earns more per order.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27327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 (Null)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450592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difference in average order value between Electronics and other categories.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 (Alternative)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41071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does differ between Electronics and other categories.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Independent-samples T-test on Total_Sales, Electronics (n=354) vs. all other categories (n=646)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126480" y="2011680"/>
          <a:ext cx="54864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6126480" y="4663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03920" y="4663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26480" y="5047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503920" y="50474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26480" y="543153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of difference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03920" y="543153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-₹8,738 to ₹21,255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58064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9A826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58064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p = 0.414 &gt; 0.05  →  fail to reject H₀. No statistically significant difference in spend per order.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Recommended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2F4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— and East India — lead on total revenue because of higher purchase VOLUME, not higher spend per order. Pricing behavior is consistent across every segment tested.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business should do next: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931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44805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reach &amp; frequency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9834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acquisition and repeat-purchase efforts within Electronics and East India — that's what's actually driving their lead.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374904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3931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0" y="44805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assume premium pricing works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49834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values are uniform across segments, so pricing power hasn't been proven — treat it as untested, not assumed.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374904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3931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66760" y="44805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the same lens elsewhere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66760" y="49834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volume-focused strategy for underperforming segments (North India, Fashion) rather than price changes.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27327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834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Vanshika Dharpure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5440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 — ApexPlanet Software Pvt. Ltd.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2026-07-20T05:26:59Z</dcterms:created>
  <dcterms:modified xsi:type="dcterms:W3CDTF">2026-07-20T05:26:59Z</dcterms:modified>
</cp:coreProperties>
</file>